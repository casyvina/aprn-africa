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07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cover_pipelin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502920" y="822960"/>
            <a:ext cx="54864" cy="292608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85800" y="777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C89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APRN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8580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Pipeline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Network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Africa's Pipeline Future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3337560"/>
            <a:ext cx="3200400" cy="0"/>
          </a:xfrm>
          <a:prstGeom prst="line">
            <a:avLst/>
          </a:prstGeom>
          <a:noFill/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580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Concept &amp; Execution Roadmap  (v1)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663440"/>
            <a:ext cx="4572000" cy="48006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82880" y="468172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·  Training  ·  Advocacy  ·  Impact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A3EA69-D13C-408B-A511-2E09E9038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956" y="159624"/>
            <a:ext cx="1813560" cy="663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73152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Skills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faces a severe shortage of trained pipeline engineers. Ageing workforce, no structured succession, and zero Africa-dedicated academies — threatening energy infrastructure across the continent.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73152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38328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Lost Annually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vandalism, theft, and integrity failures cost African nations billions every year. The Niger Delta alone loses over $1 billion annually to oil theft and spills — driven by poor community engagement and lack of local expertise.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2743200" cy="73152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30936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Industry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regulators, academia, and communities work in silos. No unified platform exists for collaboration, data sharing, or policy coordination across African pipeline sectors.</a:t>
            </a:r>
            <a:endParaRPr lang="en-US" sz="1200" dirty="0"/>
          </a:p>
        </p:txBody>
      </p:sp>
      <p:pic>
        <p:nvPicPr>
          <p:cNvPr id="19" name="Image 0" descr="/home/claude/imgs/aerial_fores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pipeline sector is losing ground fast — in talent, research, and revenue. APRN is the solution.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of opportunity is open — and closing fast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1161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Rising Energy Demand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energy consumption is projected to double by 2040. Pipeline infrastructure is the backbone — yet investment in talent and safety is not keeping pace.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1051560"/>
            <a:ext cx="2743200" cy="169164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291840" y="1161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Massive Capital Flowing 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5544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$180B in energy investment targeted at Africa by 2030. Companies need local skilled engineers — APRN is the gateway.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2743200" cy="169164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172200" y="1161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Skills Gap Is Widening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5544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pipeline engineers retiring faster than graduates are trained. Nigeria-wide talent crisis — Moniepoint CEO recently flagged 500 unfilled vacancies due to lack of qualified talent.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60520" cy="1691640"/>
          </a:xfrm>
          <a:prstGeom prst="rect">
            <a:avLst/>
          </a:prstGeom>
          <a:solidFill>
            <a:srgbClr val="1A3A5C"/>
          </a:solidFill>
          <a:ln w="25400">
            <a:solidFill>
              <a:srgbClr val="E8B8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Local Content Act — Legal Mandate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NOGICD Act 2010 (enforced by NCDMB) legally mandates companies to hire and train Nigerians first in all oil &amp; gas roles. Companies must submit Nigerian Content Plans — creating direct, compulsory demand for APRN-certified engineers.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60520" cy="169164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92040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Africa is Ready — Right Now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OB3 River Niger crossing completed April 2026 — full commissioning Q4 2026. NMGP IGA signing Q4 2026. US Government, World Bank &amp; White House NSC all met with ONHYM this week on the $25B Nigeria-Morocco pipeline. First gas targeted 2031. The moment is NOW.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EITEP confirmed Africa training demand · $25B NMGP IGA signing 2026 · US Government engaged · APRN is the delivery vehicle.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female_engine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1628">
              <a:alpha val="80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82880" y="137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114800" y="274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PURPOSE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0" y="731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114800" y="1234440"/>
            <a:ext cx="466344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114800" y="1234440"/>
            <a:ext cx="64008" cy="118872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251960" y="12801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Africa's leading knowledge hub and capacity-building platform for safe, efficient, and sustainable pipeline systems.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114800" y="3108960"/>
            <a:ext cx="466344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114800" y="3108960"/>
            <a:ext cx="64008" cy="13716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251960" y="31546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advance pipeline research, develop skilled professionals, and promote best practices that enhance the integrity, safety, and sustainability of pipeline infrastructure across Africa.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0" y="4663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"Building Capacity. Securing Infrastructure. Transforming Africa."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7D3CEA-59E7-408E-BD91-3B2BCBFD2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812"/>
            <a:ext cx="1499981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AFRICA'S ENERGY LANDSCAPE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pipelines matter — and why APRN is needed now</a:t>
            </a:r>
            <a:endParaRPr lang="en-US" sz="1300" dirty="0"/>
          </a:p>
        </p:txBody>
      </p:sp>
      <p:pic>
        <p:nvPicPr>
          <p:cNvPr id="4" name="Image 0" descr="/home/claude/imgs/africa_ma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097280"/>
            <a:ext cx="40233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4114800" cy="86868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02920" y="11521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874520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infrastructure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103120"/>
            <a:ext cx="4114800" cy="86868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02920" y="21579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$180B+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87452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 African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by 2030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108960"/>
            <a:ext cx="4114800" cy="86868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02920" y="31638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874520" y="3200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Africa's energy needs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or underserved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977640"/>
            <a:ext cx="4114800" cy="384048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02920" y="3995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LIVE: OB3 Pipeline — River Niger crossing April 2026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4169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130km River Niger crossing complete · Full commissioning Q4 2026 · 2 billion SCF/day capacity.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4370832"/>
            <a:ext cx="4114800" cy="347472"/>
          </a:xfrm>
          <a:prstGeom prst="rect">
            <a:avLst/>
          </a:prstGeom>
          <a:solidFill>
            <a:srgbClr val="10224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02920" y="43891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NMGP Corridor — 13 Countries (US Gov Interest Confirmed May 2026)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45445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· Benin · Togo · Ghana · Côte d'Ivoire · Liberia · Sierra Leone · Guinea · Senegal · Mauritania · Morocco → Europe. FID 2026. First gas 2031.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02240"/>
          </a:solidFill>
          <a:ln w="12700">
            <a:solidFill>
              <a:srgbClr val="1022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$180B pipeline investment · $25B NMGP · US, World Bank &amp; White House engaged · NNPC Gas Master Plan 2026: $22B · NCDMB mandates Nigerian-first hiring · Skills gap = APRN's 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64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Research &amp; Knowledge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Africa-focused pipeline research, data repository, annual industry reports, and policy advisory support.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Training &amp; Capacity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programs for pipeline engineering, integrity management, and HSSE. Entry-level academies for young engineers.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080760" y="1097280"/>
            <a:ext cx="2743200" cy="64008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1792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Industry Collaboration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Multi-stakeholder platform connecting operators, regulators, academia, and service companies across Africa.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2743200" cy="64008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Policy &amp; Advocacy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pipeline regulations, local content policies, and adoption of international best practices.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43200" cy="640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33756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Sustainability &amp; ESG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methane emissions, spill remediation, and climate-aligned pipeline strategies.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080760" y="2971800"/>
            <a:ext cx="2743200" cy="6400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1792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Community Impact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safety awareness in host communities, alternative livelihoods, and gender-inclusive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classroo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1628">
              <a:alpha val="75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82880" y="1645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</a:t>
            </a:r>
            <a:endParaRPr lang="en-US" sz="3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3108960"/>
            <a:ext cx="2194560" cy="54864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3840480" y="274320"/>
            <a:ext cx="502920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3840480" y="274320"/>
            <a:ext cx="64008" cy="77724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977640" y="32918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Africa Pipeline Academy (APA)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583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professional certification programs for engineers at all levels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40480" y="118872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840480" y="1188720"/>
            <a:ext cx="64008" cy="77724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977640" y="124358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Pipeline Research &amp; Innovation Lab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77640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research on corrosion, integrity management, and leak detection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40480" y="2103120"/>
            <a:ext cx="502920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840480" y="2103120"/>
            <a:ext cx="64008" cy="77724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3977640" y="215798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WIMEE Africa — Women in Midstream Energy &amp; Engineering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77640" y="24871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initiative for women across midstream energy — mentorship, leadership, technical training and inclusion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40480" y="301752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3840480" y="3017520"/>
            <a:ext cx="64008" cy="77724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3977640" y="307238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Pipeline Integrity &amp; Safety Program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977640" y="34015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training, compliance support, and safety certifications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840480" y="3931920"/>
            <a:ext cx="502920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3840480" y="3931920"/>
            <a:ext cx="64008" cy="77724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3977640" y="398678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Community Pipeline Awareness Program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977640" y="43159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education and engagement in host communities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NGO + Social Enterprise structure for impact and sustainability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102240"/>
          </a:solidFill>
          <a:ln w="1905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 ARM (NGO)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grants &amp; donor funding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partnerships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980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funding from oil &amp; gas companies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284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programs (youth, women)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58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&amp; World Bank program linkages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102240"/>
          </a:solidFill>
          <a:ln w="19050">
            <a:solidFill>
              <a:srgbClr val="0D6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983480" y="12618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ARM (SOCIAL ENTERPRISE)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certification programs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267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consulting services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7980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publications &amp; data subs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3284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&amp; summit events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858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memberships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arms serve one mission: Building Africa's pipeline capacity for generations to come.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&amp; CAPACITY BUILDING</a:t>
            </a:r>
            <a:endParaRPr lang="en-US" sz="2600" dirty="0"/>
          </a:p>
        </p:txBody>
      </p:sp>
      <p:pic>
        <p:nvPicPr>
          <p:cNvPr id="4" name="Image 0" descr="/home/claude/imgs/team_train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051560"/>
            <a:ext cx="384048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51560"/>
            <a:ext cx="4389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365760" y="1051560"/>
            <a:ext cx="64008" cy="64008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30352" y="1097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Level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Academy for fresh graduates &amp; young engineers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801368"/>
            <a:ext cx="4389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65760" y="1801368"/>
            <a:ext cx="64008" cy="64008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30352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2121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integrity, HSSE, corrosion management certifications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551176"/>
            <a:ext cx="4389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365760" y="2551176"/>
            <a:ext cx="64008" cy="64008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30352" y="2596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" y="2871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training for regulators &amp; industry leaders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300984"/>
            <a:ext cx="4389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365760" y="3300984"/>
            <a:ext cx="64008" cy="64008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530352" y="3346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WIMEE Africa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0352" y="36210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Midstream Energy &amp; Engineering — dedicated tracks across technical and leadership roles</a:t>
            </a:r>
            <a:endParaRPr lang="en-US" sz="1100" dirty="0"/>
          </a:p>
        </p:txBody>
      </p:sp>
      <p:pic>
        <p:nvPicPr>
          <p:cNvPr id="21" name="Image 1" descr="/home/claude/imgs/pipeline_layin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4069080"/>
            <a:ext cx="5029200" cy="10744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0" y="4069080"/>
            <a:ext cx="5029200" cy="1074420"/>
          </a:xfrm>
          <a:prstGeom prst="rect">
            <a:avLst/>
          </a:prstGeom>
          <a:solidFill>
            <a:srgbClr val="0A1628">
              <a:alpha val="55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82880" y="44074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 · Apprenticeships · Mentorships · Scholarships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community_hand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5778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457200" y="182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PARTNERSHIPS &amp;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COLLABORATION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754880" cy="7315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54864" cy="73152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94360" y="1371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Regulators: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572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Midstream &amp; Downstream Petroleum Regulatory Authority (NMDPRA) · Nigerian Upstream Petroleum Regulatory Commission (NUPRC) · Nigerian Content Development &amp; Monitoring Board (NCDMB) · and equivalents across Africa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09397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57200" y="2093976"/>
            <a:ext cx="54864" cy="475488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94360" y="213969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Operators: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23408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Shell, TotalEnergies, NNPC, Chevron &amp; others · NCDMB (enforces Local Content Act — creates direct training demand)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606040"/>
            <a:ext cx="4754880" cy="475488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457200" y="2606040"/>
            <a:ext cx="54864" cy="475488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94360" y="26517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" y="28529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polytechnics &amp; technical institutes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118104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457200" y="3118104"/>
            <a:ext cx="54864" cy="475488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594360" y="316382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Bodies: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" y="33649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SPE, API, World Bank, AFDB programs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630168"/>
            <a:ext cx="4754880" cy="475488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457200" y="3630168"/>
            <a:ext cx="54864" cy="475488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594360" y="3675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&amp; Civil Society: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4360" y="38770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development &amp; gender-focused NGOs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4142232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457200" y="4142232"/>
            <a:ext cx="54864" cy="685800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94360" y="4187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EITEP Institute, Germany: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4360" y="4389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Institute for Information &amp; Technology Transfer — Global pipeline training body (integrity, inspection, corrosion, welding). No Africa presence yet. APRN = their Africa delivery partner.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24-MONTH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7589520" cy="54864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265176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600200" y="2212848"/>
            <a:ext cx="457200" cy="45720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registration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formation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identity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training program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337560" y="1051560"/>
            <a:ext cx="2651760" cy="731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434840" y="2212848"/>
            <a:ext cx="457200" cy="457200"/>
          </a:xfrm>
          <a:prstGeom prst="ellipse">
            <a:avLst/>
          </a:prstGeom>
          <a:solidFill>
            <a:srgbClr val="0D6E8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47472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Programs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Pipeline Academy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collaborations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stakeholder roundtable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LinkedIn live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172200" y="1051560"/>
            <a:ext cx="2651760" cy="73152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269480" y="2212848"/>
            <a:ext cx="457200" cy="457200"/>
          </a:xfrm>
          <a:prstGeom prst="ellipse">
            <a:avLst/>
          </a:prstGeom>
          <a:solidFill>
            <a:srgbClr val="8B225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30936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09360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Pipeline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African Pipeline Leadership Summit (APLS) — Morocco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across NMGP corridor countries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collaboration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IMPACT TARGETS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that define our success</a:t>
            </a:r>
            <a:endParaRPr lang="en-US" sz="1300" dirty="0"/>
          </a:p>
        </p:txBody>
      </p:sp>
      <p:pic>
        <p:nvPicPr>
          <p:cNvPr id="4" name="Image 0" descr="/home/claude/imgs/crew_tea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097280"/>
            <a:ext cx="914400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network. Many pipelines. Infinite possibilities.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11480" y="2926080"/>
            <a:ext cx="1920240" cy="187452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11480" y="3063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9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1148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Annually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2926080"/>
            <a:ext cx="1920240" cy="187452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2514600" y="3063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9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51460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WIMEE Africa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Target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2926080"/>
            <a:ext cx="1920240" cy="187452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617720" y="3063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9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461772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Publications/Year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20840" y="2926080"/>
            <a:ext cx="1920240" cy="1874520"/>
          </a:xfrm>
          <a:prstGeom prst="rect">
            <a:avLst/>
          </a:prstGeom>
          <a:solidFill>
            <a:srgbClr val="102240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720840" y="3063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9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672084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Countries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by Year 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28600" y="1371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3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2011680" cy="54864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2860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already moving.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how we accelerate.</a:t>
            </a:r>
            <a:endParaRPr lang="en-US" sz="1100" dirty="0"/>
          </a:p>
        </p:txBody>
      </p:sp>
      <p:pic>
        <p:nvPicPr>
          <p:cNvPr id="6" name="Image 0" descr="/home/claude/imgs/handshak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840480"/>
            <a:ext cx="3474720" cy="13030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3840480"/>
            <a:ext cx="3474720" cy="1303020"/>
          </a:xfrm>
          <a:prstGeom prst="rect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3657600" y="274320"/>
            <a:ext cx="521208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3657600" y="274320"/>
            <a:ext cx="502920" cy="804672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3657600" y="457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79392" y="3291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Registration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79392" y="6400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APRN as NGO + social enterprise arm — CAC Nigeria + international structure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0" y="1207008"/>
            <a:ext cx="5212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3657600" y="1207008"/>
            <a:ext cx="502920" cy="804672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3657600" y="1389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79392" y="1261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Formation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279392" y="15727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industry leaders, academics, and policy experts as trustees across Nigeria and Africa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0" y="2139696"/>
            <a:ext cx="521208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3657600" y="2139696"/>
            <a:ext cx="502920" cy="804672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3657600" y="23225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279392" y="2194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Digital Presence ✅ In Progress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279392" y="25054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framework in development · LinkedIn company page being structured · Brand identity underway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0" y="3072384"/>
            <a:ext cx="5212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3657600" y="3072384"/>
            <a:ext cx="502920" cy="804672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3657600" y="32552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279392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Training — EITEP Institute ✅ In Progress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279392" y="343814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EITEP runs certified global pipeline courses (Germany, Australia, Malaysia) · APRN positioned as Africa delivery partner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57600" y="4005072"/>
            <a:ext cx="521208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3657600" y="4005072"/>
            <a:ext cx="502920" cy="804672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3657600" y="41879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279392" y="40599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— African Pipeline Leadership Summit (APLS)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279392" y="43708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NMGP corridor runs through 13 countries ending in Morocco · Establish contacts in Morocco energy sector · Host first African Pipeline Leadership Summit (APLS) in Morocco — thought leadership, policy &amp; industry convening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cover_pipelin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80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500" dirty="0">
                <a:solidFill>
                  <a:srgbClr val="C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Africa's Pipeline</a:t>
            </a:r>
            <a:endParaRPr lang="en-US" sz="5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54864"/>
          </a:xfrm>
          <a:prstGeom prst="rect">
            <a:avLst/>
          </a:prstGeom>
          <a:solidFill>
            <a:srgbClr val="C8941A"/>
          </a:solidFill>
          <a:ln w="12700">
            <a:solidFill>
              <a:srgbClr val="C89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·  Training  ·  Advocacy  ·  Impact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Pipeline Resource Network (APRN)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041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Okeke — Founder &amp; NMDPRA Regulator  ·  Joseph Agwuh — Head, Technology &amp; Innovation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www.aprn-africa.org  |  info@aprn-africa.org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1414</Words>
  <Application>Microsoft Office PowerPoint</Application>
  <PresentationFormat>On-screen Show (16:9)</PresentationFormat>
  <Paragraphs>193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African Pipeline Resource Network (APRN)</dc:title>
  <dc:subject>PptxGenJS Presentation</dc:subject>
  <dc:creator>PptxGenJS</dc:creator>
  <cp:lastModifiedBy>Joseph Agwuh</cp:lastModifiedBy>
  <cp:revision>2</cp:revision>
  <dcterms:created xsi:type="dcterms:W3CDTF">2026-05-14T11:41:16Z</dcterms:created>
  <dcterms:modified xsi:type="dcterms:W3CDTF">2026-06-03T10:28:31Z</dcterms:modified>
</cp:coreProperties>
</file>